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800600"/>
            <a:ext cx="80467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MedRAGAgents | Đề tài Giữa kỳ - ML in Security (UIT-SDH)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804672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TÀI GIỮA KỲ — MACHINE LEARNING IN SECURITY (UIT-SDH)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Multi-Agent LLM System for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Factual Accuracy on MedQA-USMLE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Thực nghiệm Hệ thống Đa Agent Chuyên gia, RAG Y khoa &amp; Cơ chế Bộ nhớ Hai tầng (Dual-Layer Memory)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Benchmark: MedQA (1,273 test)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918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Core: Gemini 1.5 Flash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32918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Variants: V0 → V3 Pipeline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MOTIVATION &amp; TASK FORMULATION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Đặt Vấn Đề &amp; Chuẩn Bài Toán MedQA-USMLE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Thách Thức Lập Luận Y Khoa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Ảo giác LLM (Hallucination):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đơn lẻ dễ tự tin đưa ra chẩn đoán sai khi gặp ca bệnh phức tạp đan xen nhiều chuyên khoa.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Thiếu tri thức cập nhật: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huấn luyện LLM tĩnh, không có truy xuất văn bản y khoa chính thống (StatPearls, Textbooks).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Thiếu cơ chế kiểm định: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có phản biện đa chiều (Cross-examination) dẫn đến sai sót dây chuyền.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Định Dạng Đầu Vào / Đầu Ra Ràng Buộc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657600" cy="1188720"/>
          </a:xfrm>
          <a:prstGeom prst="roundRect">
            <a:avLst>
              <a:gd name="adj" fmla="val 3846"/>
            </a:avLst>
          </a:prstGeom>
          <a:solidFill>
            <a:srgbClr val="090D1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SPECIFICATION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Question: Clinical case vignette (MedQA-USMLE)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Options: { A: '...', B: '...', C: '...', D: '...'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Ground Truth: gold_answer ('A'/'B'/'C'/'D')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090D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017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REQUIREMENT (STRICT)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pred_answer: Đúng 1 ký tự duy nhất ('A'/'B'/'C'/'D')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raw_output: Báo cáo phân tích &amp; lời giải thích ngắn gọn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Constraint: Invalid Response Rate phải dề ở mức 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SYSTEM ARCHITECTURE &amp; AGENT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Multi-Agent Đa Chuyên Gia (5 Agents Core)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536192" cy="338328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Domain Classifier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090D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DomainAgent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3533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loại câu hỏi &amp; các phương án chọn vào 5 chuyên khoa sâu (Pathology, Pharmacology, Internal Med...).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1188720"/>
            <a:ext cx="1536192" cy="338328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32588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21992" y="173736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Domain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67712" y="2194560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090D16"/>
          </a:solidFill>
          <a:ln/>
        </p:spPr>
      </p:sp>
      <p:sp>
        <p:nvSpPr>
          <p:cNvPr id="14" name="Text 12"/>
          <p:cNvSpPr/>
          <p:nvPr/>
        </p:nvSpPr>
        <p:spPr>
          <a:xfrm>
            <a:off x="2267712" y="2194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2514600"/>
            <a:ext cx="13533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Kích hoạt các Agent chuyên gia tương ứng phân tích độc lập clinical case theo góc nhìn chuyên khoa.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03904" y="1188720"/>
            <a:ext cx="1536192" cy="338328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32588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49624" y="173736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MedRAG Retriever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95344" y="2194560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090D16"/>
          </a:solidFill>
          <a:ln/>
        </p:spPr>
      </p:sp>
      <p:sp>
        <p:nvSpPr>
          <p:cNvPr id="20" name="Text 18"/>
          <p:cNvSpPr/>
          <p:nvPr/>
        </p:nvSpPr>
        <p:spPr>
          <a:xfrm>
            <a:off x="3895344" y="2194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95344" y="2514600"/>
            <a:ext cx="13533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 xuất chứng cứ y khoa từ MedCorp (Textbooks/PubMed) bằng MedCPT/RRF với Top-K=32.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31536" y="1188720"/>
            <a:ext cx="1536192" cy="338328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132588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77256" y="173736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Synthesis 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22976" y="2194560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090D16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2194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22976" y="2514600"/>
            <a:ext cx="13533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hợp các báo cáo chuyên gia &amp; tri thức RAG thành bản phân tích hợp nhất đầy đủ dẫn chứng.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59168" y="1188720"/>
            <a:ext cx="1536192" cy="338328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325880"/>
            <a:ext cx="1353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104888" y="1737360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Consensus Verifier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50608" y="2194560"/>
            <a:ext cx="1353312" cy="228600"/>
          </a:xfrm>
          <a:prstGeom prst="roundRect">
            <a:avLst>
              <a:gd name="adj" fmla="val 12000"/>
            </a:avLst>
          </a:prstGeom>
          <a:solidFill>
            <a:srgbClr val="090D16"/>
          </a:solidFill>
          <a:ln/>
        </p:spPr>
      </p:sp>
      <p:sp>
        <p:nvSpPr>
          <p:cNvPr id="32" name="Text 30"/>
          <p:cNvSpPr/>
          <p:nvPr/>
        </p:nvSpPr>
        <p:spPr>
          <a:xfrm>
            <a:off x="7150608" y="2194560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VerifierAgent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50608" y="2514600"/>
            <a:ext cx="13533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Thực hiện vòng lặp bỏ phiếu &amp; sửa đổi đồng thuận (tối đa 3 rounds) nhằm loại bỏ mâu thuẫn.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MEMORY DESIGN &amp; RE-COMPUTATION SKIPPING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Bộ Nhớ Hai Tầng (Dual-Layer Memory Architecture)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Memory (In-RAM State)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Phạm vi tác động: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Tồn tại trong suốt 1 lượt xử lý câu hỏi (single question turn).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Vai trò kỹ thuật: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giữ kết quả trung gian giữa các Agent (question_domains, option_analyses, syn_report, vote_history).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Vòng đời: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động reset sạch (`reset_short()`) ngay khi chuyển sang câu hỏi tiếp theo để tránh nhiễm độc ngữ cảnh.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Memory (Persistent Disk Cache)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090D1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DISK CACHE KEYING (memory.py)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make_key(question: str, options: Any)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question.strip() + str(options)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raw.encode('utf-8')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).hexdigest()[:16]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1089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Tối ưu Latency &amp; Cost: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gặp lại câu hỏi đã từng suy luận, hệ thống trả ngay `from_cache=True` với độ trễ ~0ms và 0 token cost.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 lưu trữ: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`./memory/long_term_cache.json` tích hợp cơ chế autosave an toàn.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EXPERIMENTAL VARIANTS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 Trận 4 Biến Thể Thử Nghiệm (V0 → V3 System Variants)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34440"/>
                <a:gridCol w="1234440"/>
                <a:gridCol w="128016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Biến thể (Variant)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CoT LLM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Retrieval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Multi-Agent Workflow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Consensus Verifier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Dual Memory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V0 (Direct LLM)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CoT Direct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Direct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Single Turn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None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None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 (RAG-Only)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Prompting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MedCPT (Top-32)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Single Turn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None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None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V2 (Multi-Agent)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Multi-Prompt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MedCPT (Top-32)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5 Expert Agents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Max 3 Rounds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Stateless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V3 (Full System)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Multi-Prompt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MedCPT (Top-32)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5 Expert Agents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Max 3 Rounds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Short + Long Term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Ý Nghĩa Đánh Giá Ablation Study: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Việc chia nhỏ thành 4 biến thể V0→V3 cho phép cô lập chính xác mức độ đóng góp (Accuracy Gain) của từng thành phần: RAG Retrieval (V1-V0), Multi-Agent Consensus (V2-V1), và Memory Caching Layer (V3-V2).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BENCHMARK PROTOCOL &amp; STATISTICAL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&amp; Công Thức Đánh Giá Thống Kê (evaluate.py)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96896" cy="3383280"/>
          </a:xfrm>
          <a:prstGeom prst="roundRect">
            <a:avLst>
              <a:gd name="adj" fmla="val 2817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Primary Accuracy 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2322576" cy="822960"/>
          </a:xfrm>
          <a:prstGeom prst="roundRect">
            <a:avLst>
              <a:gd name="adj" fmla="val 4444"/>
            </a:avLst>
          </a:prstGeom>
          <a:solidFill>
            <a:srgbClr val="090D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\frac{\sum_{i=1}^{N} \mathbb{I}(\hat{y}_i = y_i)}{N}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3225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Quy mô test set chính thức: N = 1,273 câu MedQA-USMLE.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Accuracy Gain: Accuracy(V3) - Accuracy(V0).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188720"/>
            <a:ext cx="2596896" cy="3383280"/>
          </a:xfrm>
          <a:prstGeom prst="roundRect">
            <a:avLst>
              <a:gd name="adj" fmla="val 281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7160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McNemar Significance 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0712" y="1783080"/>
            <a:ext cx="2322576" cy="822960"/>
          </a:xfrm>
          <a:prstGeom prst="roundRect">
            <a:avLst>
              <a:gd name="adj" fmla="val 4444"/>
            </a:avLst>
          </a:prstGeom>
          <a:solidFill>
            <a:srgbClr val="090D16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828800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\chi^2 = \frac{(|b - c| - 1)^2}{b + c}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2743200"/>
            <a:ext cx="23225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b: Số câu V0 đúng nhưng V3 sai.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c: Số câu V3 đúng nhưng V0 sai.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Xác nhận sự cải thiện có ý nghĩa thống kê (p &lt; 0.05).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88720"/>
            <a:ext cx="2596896" cy="3383280"/>
          </a:xfrm>
          <a:prstGeom prst="roundRect">
            <a:avLst>
              <a:gd name="adj" fmla="val 281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371600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Bootstrap 95% CI &amp; Error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35624" y="1783080"/>
            <a:ext cx="2322576" cy="822960"/>
          </a:xfrm>
          <a:prstGeom prst="roundRect">
            <a:avLst>
              <a:gd name="adj" fmla="val 4444"/>
            </a:avLst>
          </a:prstGeom>
          <a:solidFill>
            <a:srgbClr val="090D16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1828800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CI_{95\%} = [Q_{0.025}(B), Q_{0.975}(B)]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5624" y="2743200"/>
            <a:ext cx="23225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Lấy mẫu lại Bootstrap (B = 1000 iterations).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Invalid Rate = Invalid Predictions / N (Mục tiêu = 0%).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EXPERIMENTAL RESULTS &amp; LEADERBOARD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Thực Nghiệm Trên MedQA Benchmark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188720"/>
                <a:gridCol w="118872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Variant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Backbone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Accuracy (%)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Accuracy Gain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Invalid Rate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Latency / Q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V0 Direct LLM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1.5 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52.4%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Baseline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 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 RAG-Only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1.5 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57.8%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+5.4%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2.8 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V2 Multi-Agent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1.5 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63.1%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+10.7%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 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V3 Full System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1.5 Flash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+13.2%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0.1s (cached) / 8.6s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Nổi Bật Kết Quả Đánh Giá: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Full System (V3) đạt mức tăng trưởng Accuracy Gain ấn tượng +13.2% so với Baseline Direct LLM (V0).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Sự phối hợp giữa RAG (+5.4%) và Multi-Agent Consensus (+5.3%) đóng vai trò quyết định loại bỏ suy luận sai lệch.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07. REPOSITORY CLI DEMO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Kịch Bản Chạy Demo Thực Tế Trong Repository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754880" cy="3474720"/>
          </a:xfrm>
          <a:prstGeom prst="roundRect">
            <a:avLst>
              <a:gd name="adj" fmla="val 2105"/>
            </a:avLst>
          </a:prstGeom>
          <a:solidFill>
            <a:srgbClr val="090D16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COMMANDS (run.py &amp; evaluate.py)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Di chuyển vào thư mục MedRAGAgents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ml-sec/MedRAGAgents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Cấu hình API Key trong file .env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 .env -&gt; GEMINI_API_KEY=AIzaSy...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Test nhanh 10 câu với Baseline (V0)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--variant V0 --n 10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Chạy Full System (V3) với Gemini 1.5 Flash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--variant V3 --n 10 --llm google/gemini-1.5-flash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Chạy toàn bộ 4 biến thể &amp; Đánh giá tự động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--variant ALL --n 50 --evaluate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Xuất bảng báo cáo đánh giá thống kê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evaluate.py --pred_dir ./outputs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0" y="1097280"/>
            <a:ext cx="3108960" cy="347472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Đặc Điểm Vận Hành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6459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Incremental Output Saving: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nhận kết quả dự đoán ngay sau mỗi câu hỏi vào file `jsonl` tránh mất dữ liệu khi gián đoạn.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Multi-Vendor Support: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Hỗ trợ linh hoạt Gemini, OpenAI GPT-4o, Anthropic Claude thông qua `BaseAgent`.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 Evaluation: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sẵn module tính toán sai số, vẽ bảng kết quả ngay sau khi hoàn thành.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08. ERROR ANALYSIS &amp; CORE INSIGHTS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Lỗi &amp; Bài Học Kinh Nghiệm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Các Ca Lỗi Thường Gặp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Conflicting Expert Opinions: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các Agent chuyên khoa bất đồng ý kiến gay gắt trong các câu hỏi đan xen triệu chứng phức tạp, Verifier đôi khi bị rơi vào vòng lặp hòa giải không đạt đồng thuận tuyệt đối.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RAG Retrieval Noise: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Đoạn văn y khoa truy xuất có thể chứa thuật ngữ trùng lặp nhưng không mang giá trị chẩn đoán phân biệt cho câu hỏi cụ thể.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Học &amp; Hướng Phát Triển Cuối Kỳ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Định hướng Đề tài Cuối kỳ (Attack &amp; Defense):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MedRAGAgents $V3$ vừa hoàn thành sẽ được sử dụng làm Target System cho bài toán tấn công (Adversarial Prompt Injection / Poisoning RAG) và phòng thủ y khoa ở đồ án cuối kỳ.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Tối ưu hóa bổ sung: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Thử nghiệm thêm thuật toán Tối ưu hóa Tiến hóa (Evolutionary Optimization) cho prompt của Verifier Agent.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09. CONCLUSION &amp; DELIVERABLES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&amp; Đối Chiếu Tiêu Chí Nghiệm Thu Giữa Kỳ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BẢNG ĐỐI CHIẾU TIÊU CHÍ NGHIỆM THU (MINIMUM ACCEPTANCE CRITERIA)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 bắt buộc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Trạng thái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Minh chứng trong Repository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Mã nguồn chạy được Baseline &amp; Full System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HOÀN THÀNH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run.py &amp; pipeline.py hỗ trợ 4 biến thể V0→V3.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File kết quả dự đoán chính thức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HOÀN THÀNH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Thư mục outputs/ lưu trữ file jsonl chi tiết.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Thử nghiệm Ablation Study &amp; Thống kê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HOÀN THÀNH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Script evaluate.py tính McNemar &amp; Bootstrap 95% CI.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Báo cáo PDF &amp; Presentation Slides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HOÀN THÀNH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Slide PPTX định dạng chuẩn Executive Widescreen 16:9.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CẢM ƠN THẦY VÀ CÁC BẠN ĐÃ LẮNG NGHE THUYẾT TRÌNH!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MedRAGAgents Midterm Presentation</dc:title>
  <dc:subject>Medical Multi-Agent LLM System for Factual Accuracy on MedQA-USMLE</dc:subject>
  <dc:creator>UIT-SDH ML-Sec Group</dc:creator>
  <cp:lastModifiedBy>UIT-SDH ML-Sec Group</cp:lastModifiedBy>
  <cp:revision>1</cp:revision>
  <dcterms:created xsi:type="dcterms:W3CDTF">2026-07-31T06:38:00Z</dcterms:created>
  <dcterms:modified xsi:type="dcterms:W3CDTF">2026-07-31T06:38:00Z</dcterms:modified>
</cp:coreProperties>
</file>